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86"/>
    <p:restoredTop sz="94610"/>
  </p:normalViewPr>
  <p:slideViewPr>
    <p:cSldViewPr snapToGrid="0" snapToObjects="1">
      <p:cViewPr varScale="1">
        <p:scale>
          <a:sx n="193" d="100"/>
          <a:sy n="193" d="100"/>
        </p:scale>
        <p:origin x="21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688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Introduce the report topic: clinical natural language technology across its full arc — from rule-based NLP in the 1970s through today's multimodal LLMs — and what it means strategically for Cotiviti.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CNLT encompasses five core technologies. NLP is the foundation; OCR feeds it digitized text; computer vision handles imaging; LLMs generalize across tasks without task-specific training; and LMMs unify all modalities.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eras: (1) Rule-based tools like MetaMap dominated until ~2000; (2) Statistical ML improved NER but needed labeled data; (3) Transformers in 2018 (BERT) were the paradigm shift — followed by generative LLMs that can reason, summarize, and generate clinical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key trends: explosive market growth to $16B by 2030; ambient documentation going mainstream; LLMs entering real clinical workflows; and intensifying regulatory scrutiny under HIPAA and HHS OCR. The 80% stat on unstructured EHR data is the core business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Cotiviti opportunities: (1) Risk adjustment NLP via Edifecs platform — most direct path to ROI; (2) FWA detection combining structured + unstructured data — defensible moat; (3) HEDIS/Stars measure automation — aligns with CMS digital quality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threats: hallucination/liability (most acute for client-facing outputs), HIPAA compliance (OCR is actively enforcing), algorithmic bias (equity + regulatory risk), and Big Tech commoditization (differentiate on depth, not model benchmarks).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strategic options in priority order: (1) Build a validated NLP abstraction engine — primary investment, defends core revenue; (2) Partner on multimodal chart review — access frontier LMM capability without full build cost; (3) AI governance practice — positions Cotiviti as trusted advisor in an increasingly regulated AI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working demo (clinical_nlp_demo.html) is a standalone file with zero dependencies. Key engineering decisions: sentence-scoped negation detection prevents false negatives across sentence boundaries; greedy longest-match deduplication for overlapping entity spans; ICD-10 mapping only fires on confirmed (non-negated) diagnoses.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The four takeaways synthesize the report: the data problem (80% unstructured), the technology shift (transformers/LLMs), the strategic angle (Cotiviti's moat is domain depth via Edifecs), and the production requirements (negation detection, human review, HIPAA compliance).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731520"/>
            <a:ext cx="5029200" cy="5029200"/>
          </a:xfrm>
          <a:prstGeom prst="ellipse">
            <a:avLst/>
          </a:prstGeom>
          <a:solidFill>
            <a:srgbClr val="0A7EA4">
              <a:alpha val="18000"/>
            </a:srgbClr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274320"/>
            <a:ext cx="3200400" cy="3200400"/>
          </a:xfrm>
          <a:prstGeom prst="ellipse">
            <a:avLst/>
          </a:prstGeom>
          <a:solidFill>
            <a:srgbClr val="02C39A">
              <a:alpha val="12000"/>
            </a:srgbClr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02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34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Natural Language Technology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45720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Health Care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Past, Present &amp; Future Approaches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29718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0A7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 ·  OCR  ·  Computer Vision  ·  LLM  ·  LMM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Intelligence Report  ·  Cotiviti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Clinical Natural Language Technology?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NLP bridges the gap between unstructured medical text and structured, machine-readable data — unlocking the ~80% of clinical information trapped in free-text EHR notes.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1554480" cy="30175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8745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2743200"/>
            <a:ext cx="1371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meaning from clinical text: diagnoses, meds, procedures, negations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066544" y="1691640"/>
            <a:ext cx="1554480" cy="30175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15184" y="182880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904" y="18745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66544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157984" y="2743200"/>
            <a:ext cx="1371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scanned/handwritten records into machine-readable text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767328" y="1691640"/>
            <a:ext cx="1554480" cy="30175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315968" y="18288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1688" y="18745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767328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858768" y="2743200"/>
            <a:ext cx="1371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X-rays, CT scans, pathology slides, and medical imaging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468112" y="1691640"/>
            <a:ext cx="1554480" cy="30175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016752" y="182880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2472" y="187452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68112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559552" y="2743200"/>
            <a:ext cx="1371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that summarize, reason, and generate clinical text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7168896" y="1691640"/>
            <a:ext cx="1554480" cy="30175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17536" y="1828800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3256" y="187452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68896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LMM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7260336" y="2743200"/>
            <a:ext cx="1371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models combining text + images for unified clinical reasoning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Evolution: Three Eras of Clinical NLP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2651760" cy="594360"/>
          </a:xfrm>
          <a:prstGeom prst="roundRect">
            <a:avLst>
              <a:gd name="adj" fmla="val 1846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 – 2000s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1: Rule-Based Systems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Hand-crafted rules &amp; medical dictionaries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MedLEE, MetaMap, UMLS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in narrow domains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Struggled with negation &amp; abbreviations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91440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914400"/>
            <a:ext cx="2651760" cy="594360"/>
          </a:xfrm>
          <a:prstGeom prst="roundRect">
            <a:avLst>
              <a:gd name="adj" fmla="val 18462"/>
            </a:avLst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2000s – 2018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2: Statistical &amp; ML Models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214884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HMMs, CRFs, SVMs replace rules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enters (RNNs, CNNs)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NER performance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large labeled datasets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91440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914400"/>
            <a:ext cx="2651760" cy="594360"/>
          </a:xfrm>
          <a:prstGeom prst="roundRect">
            <a:avLst>
              <a:gd name="adj" fmla="val 18462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– Present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3: Transformers &amp; LLMs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214884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(2018) shifts the paradigm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BioBERT, ClinicalBERT, PubMedBERT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/ Med-PaLM 2 reach near-physician benchmarks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+ multimodal capabilities</a:t>
            </a:r>
            <a:endParaRPr lang="en-US" sz="110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2" y="2468880"/>
            <a:ext cx="274320" cy="274320"/>
          </a:xfrm>
          <a:prstGeom prst="rect">
            <a:avLst/>
          </a:prstGeom>
        </p:spPr>
      </p:pic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246888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Trends &amp; Current Landscape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515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65760" y="18745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NLP market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2030 (25% CAGR)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08960" y="914400"/>
            <a:ext cx="27432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46120" y="1051560"/>
            <a:ext cx="411480" cy="411480"/>
          </a:xfrm>
          <a:prstGeom prst="ellipse">
            <a:avLst/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552" y="107899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49040" y="1005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Documentation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46120" y="1463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listens to patient visits and auto-generates structured notes in real time (Microsoft Dragon Copilot, 2025)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035040" y="914400"/>
            <a:ext cx="27432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1051560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07899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75120" y="1005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Entering Clinics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172200" y="1463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benchmarks into real workflows: patient triage, prior auth drafting, data extraction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108960" y="2514600"/>
            <a:ext cx="27432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246120" y="265176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67919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7490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AI Convergence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246120" y="30632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+ imaging unified in LMMs (GPT-4o, Gemini): joint reasoning over notes and scans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035040" y="2514600"/>
            <a:ext cx="27432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72200" y="2651760"/>
            <a:ext cx="411480" cy="4114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9632" y="2679192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6751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Pressure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6172200" y="30632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HHS OCR guidance (Dec 2024), HIPAA AI enforcement, FTC Health Breach Rule updated 2024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65760" y="2926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E6F4F9"/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365760" y="30632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A7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400" dirty="0"/>
          </a:p>
        </p:txBody>
      </p:sp>
      <p:sp>
        <p:nvSpPr>
          <p:cNvPr id="29" name="Text 23"/>
          <p:cNvSpPr/>
          <p:nvPr/>
        </p:nvSpPr>
        <p:spPr>
          <a:xfrm>
            <a:off x="365760" y="38404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clinically meaningful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unstructured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in EHRs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 for Cotiviti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344168"/>
            <a:ext cx="457200" cy="457200"/>
          </a:xfrm>
          <a:prstGeom prst="ellipse">
            <a:avLst/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38074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0332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88720" y="1307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NLP-Powered Risk Adjustment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673352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HCC-relevant diagnosis extraction from unstructured physician notes. Accelerates medical record retrieval, reduces abstraction costs, and improves accuracy — deployable via the Edifecs platform.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949440" y="1344168"/>
            <a:ext cx="1554480" cy="411480"/>
          </a:xfrm>
          <a:prstGeom prst="roundRect">
            <a:avLst>
              <a:gd name="adj" fmla="val 17778"/>
            </a:avLst>
          </a:prstGeom>
          <a:solidFill>
            <a:srgbClr val="0A7EA4">
              <a:alpha val="15000"/>
            </a:srgbClr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13624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Revenue Defense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65760" y="2331720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" y="2715768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2752344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88720" y="24048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188720" y="2679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LLM-Assisted FWA Detection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188720" y="3044952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structured claims data with NLP analysis of clinical notes and operative reports. Detect clinically inconsistent documentation that structured data alone misses.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49440" y="2715768"/>
            <a:ext cx="1554480" cy="411480"/>
          </a:xfrm>
          <a:prstGeom prst="roundRect">
            <a:avLst>
              <a:gd name="adj" fmla="val 17778"/>
            </a:avLst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949440" y="27340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Differentiator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65760" y="3703320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94360" y="4087368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4123944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88720" y="3776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1188720" y="40507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Measure Automation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1188720" y="4416552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validated NLP pipelines for HEDIS and Star Rating measure calculation. As CMS transitions to digital quality measurement, NLP-ready organizations gain a major efficiency edge.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949440" y="4087368"/>
            <a:ext cx="1554480" cy="411480"/>
          </a:xfrm>
          <a:prstGeom prst="roundRect">
            <a:avLst>
              <a:gd name="adj" fmla="val 17778"/>
            </a:avLst>
          </a:prstGeom>
          <a:solidFill>
            <a:srgbClr val="16A34A">
              <a:alpha val="15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949440" y="41056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Value Driver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&amp; Risk Factors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133856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097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Hallucination &amp; Liability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002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produce plausible but incorrect clinical outputs. Erroneous AI content in documentation or decision support creates liability for vendors and clients.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91440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097280"/>
            <a:ext cx="502920" cy="502920"/>
          </a:xfrm>
          <a:prstGeom prst="ellipse">
            <a:avLst/>
          </a:prstGeom>
          <a:solidFill>
            <a:srgbClr val="D97706">
              <a:alpha val="85000"/>
            </a:srgbClr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33856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097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&amp; Privacy Compliance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937760" y="16002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systems processing ePHI require Business Associate Agreements, risk analyses, and audit logs. OCR enforcement targeted AI systems in 2024–2025.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65760" y="306324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" y="3282696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88720" y="3246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Bias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48640" y="37490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trained on academic medical center data underperform in community settings and non-English clinical environments — creating health equity and regulatory risk.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306324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64748B">
              <a:alpha val="85000"/>
            </a:srgbClr>
          </a:solidFill>
          <a:ln w="12700">
            <a:solidFill>
              <a:srgbClr val="64748B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282696"/>
            <a:ext cx="420624" cy="4206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246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Tech Displacement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937760" y="37490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Dragon Copilot, Google Med-PaLM 2, and AWS HealthLake NLP are commoditizing clinical NLP. Cotiviti must differentiate on domain expertise, not model performance.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200400"/>
            <a:ext cx="4114800" cy="4114800"/>
          </a:xfrm>
          <a:prstGeom prst="ellipse">
            <a:avLst/>
          </a:prstGeom>
          <a:solidFill>
            <a:srgbClr val="0A7EA4">
              <a:alpha val="12000"/>
            </a:srgbClr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investment options for Cotiviti to explore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1E2D3E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682496"/>
            <a:ext cx="384048" cy="3840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43000" y="141732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43000" y="1417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2057400" y="1380744"/>
            <a:ext cx="6492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Validated Clinical NLP Abstraction Engine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43000" y="178308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fine-tuned transformer (ClinicalBERT-based) for HCC extraction, FWA narrative analysis, and quality measure mining — deployed via Edifecs. Human-in-the-loop validation maintains auditability.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532888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1E2D3E"/>
          </a:solidFill>
          <a:ln w="19050">
            <a:solidFill>
              <a:srgbClr val="0A7EA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889504"/>
            <a:ext cx="384048" cy="3840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143000" y="2624328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43000" y="26243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2057400" y="2587752"/>
            <a:ext cx="6492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on Multimodal Chart Review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43000" y="2990088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partnership with Microsoft/Nuance or Google Cloud Healthcare to pilot LMM-powered chart review combining notes + imaging — frontier capability without full build cost.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365760" y="3739896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1E2D3E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" y="4096512"/>
            <a:ext cx="384048" cy="38404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1143000" y="3831336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143000" y="38313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057400" y="3794760"/>
            <a:ext cx="6492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an AI Governance Practice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1143000" y="4197096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model validation standards, HIPAA-compliant AI deployment frameworks, and algorithmic bias auditing — positioning Cotiviti as a trusted advisor on responsible AI adoption.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Proof of Concept: Clinical NLP Pipeline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1508760" cy="822960"/>
          </a:xfrm>
          <a:prstGeom prst="roundRect">
            <a:avLst>
              <a:gd name="adj" fmla="val 11111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1508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(Input)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261872"/>
            <a:ext cx="201168" cy="201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39112" y="960120"/>
            <a:ext cx="1508760" cy="822960"/>
          </a:xfrm>
          <a:prstGeom prst="roundRect">
            <a:avLst>
              <a:gd name="adj" fmla="val 11111"/>
            </a:avLst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39112" y="960120"/>
            <a:ext cx="1508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Scan</a:t>
            </a:r>
            <a:endParaRPr 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261872"/>
            <a:ext cx="201168" cy="20116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758184" y="960120"/>
            <a:ext cx="1508760" cy="822960"/>
          </a:xfrm>
          <a:prstGeom prst="roundRect">
            <a:avLst>
              <a:gd name="adj" fmla="val 1111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758184" y="960120"/>
            <a:ext cx="1508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1261872"/>
            <a:ext cx="201168" cy="20116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477256" y="960120"/>
            <a:ext cx="1508760" cy="822960"/>
          </a:xfrm>
          <a:prstGeom prst="roundRect">
            <a:avLst>
              <a:gd name="adj" fmla="val 1111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477256" y="960120"/>
            <a:ext cx="1508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</a:t>
            </a:r>
            <a:endParaRPr lang="en-US" sz="10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016" y="1261872"/>
            <a:ext cx="201168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196328" y="960120"/>
            <a:ext cx="1508760" cy="822960"/>
          </a:xfrm>
          <a:prstGeom prst="roundRect">
            <a:avLst>
              <a:gd name="adj" fmla="val 11111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7196328" y="960120"/>
            <a:ext cx="1508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20040" y="1920240"/>
            <a:ext cx="5029200" cy="2880360"/>
          </a:xfrm>
          <a:prstGeom prst="roundRect">
            <a:avLst>
              <a:gd name="adj" fmla="val 3175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57200" y="19933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clinical_nlp_demo.html  (standalone, no dependencies)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" y="2304288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Sentence-scoped negation detection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r>
              <a:rPr lang="en-US" sz="1000" dirty="0">
                <a:solidFill>
                  <a:srgbClr val="0A7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isNegated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(text, start, sentences)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sentence = sentences.find(s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start &gt;= s.start &amp;&amp; start &lt; s.end);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lookback = sentence.text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.substring(0, start - sentence.start);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</a:t>
            </a:r>
            <a:r>
              <a:rPr lang="en-US" sz="100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NEGATION_CUES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.some(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cue =&gt; lookback.includes(cue));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32120" y="19659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5532120" y="1965960"/>
            <a:ext cx="640080" cy="804672"/>
          </a:xfrm>
          <a:prstGeom prst="roundRect">
            <a:avLst>
              <a:gd name="adj" fmla="val 11429"/>
            </a:avLst>
          </a:prstGeom>
          <a:solidFill>
            <a:srgbClr val="0A7EA4"/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532120" y="1965960"/>
            <a:ext cx="6400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6263640" y="2057400"/>
            <a:ext cx="2468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longest-match across 17 dx, 15 med, 10 procedure entities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532120" y="289864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532120" y="2898648"/>
            <a:ext cx="640080" cy="804672"/>
          </a:xfrm>
          <a:prstGeom prst="roundRect">
            <a:avLst>
              <a:gd name="adj" fmla="val 114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32120" y="2898648"/>
            <a:ext cx="6400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263640" y="2990088"/>
            <a:ext cx="2468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Sentence-scoped lookback prevents cross-sentence false negatives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5532120" y="3831336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5532120" y="3831336"/>
            <a:ext cx="640080" cy="804672"/>
          </a:xfrm>
          <a:prstGeom prst="roundRect">
            <a:avLst>
              <a:gd name="adj" fmla="val 114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532120" y="3831336"/>
            <a:ext cx="6400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6263640" y="3922776"/>
            <a:ext cx="2468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diagnoses mapped with confidence scores for human review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4572000" cy="4572000"/>
          </a:xfrm>
          <a:prstGeom prst="ellipse">
            <a:avLst/>
          </a:prstGeom>
          <a:solidFill>
            <a:srgbClr val="0A7EA4">
              <a:alpha val="15000"/>
            </a:srgbClr>
          </a:solidFill>
          <a:ln w="12700">
            <a:solidFill>
              <a:srgbClr val="0A7EA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02C39A">
              <a:alpha val="12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78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042416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clinical data is unstructured — NLP is the unlock for risk adjustment, FWA, and quality measurement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39112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39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002536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and LLMs have shifted the paradigm from rule-based extraction to generative reasoning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999232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99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962656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Cotiviti's Edifecs platform and domain depth are the focus because the investment case is NLP-as-differentiation, not NLP-as-commodity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959352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959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3922776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Sentence-scoped negation detection, human-in-the-loop validation, and HIPAA audit trails are non-negotiable for production deployment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NLP for Health Care  ·  Cotiviti Strategic Intelligence  ·  June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1238</TotalTime>
  <Words>1333</Words>
  <Application>Microsoft Macintosh PowerPoint</Application>
  <PresentationFormat>On-screen Show (16:9)</PresentationFormat>
  <Paragraphs>140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NLP for Healthcare</dc:title>
  <dc:subject>PptxGenJS Presentation</dc:subject>
  <dc:creator>PptxGenJS</dc:creator>
  <cp:lastModifiedBy>Kayla Hoffman</cp:lastModifiedBy>
  <cp:revision>2</cp:revision>
  <dcterms:created xsi:type="dcterms:W3CDTF">2026-06-30T22:33:15Z</dcterms:created>
  <dcterms:modified xsi:type="dcterms:W3CDTF">2026-07-01T19:18:18Z</dcterms:modified>
</cp:coreProperties>
</file>